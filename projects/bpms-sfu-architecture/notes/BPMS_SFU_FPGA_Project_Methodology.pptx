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what's at stake: by end of this meeting we want to leave with M1 committed, or pushed back with reasons; ADR-0005 either accepted or with the exact blocker named; and the spec template confirmed. Set the expectation that the bulk of the talk is the architect workflow because that is what we are committing to deliver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point is to motivate why this is not just a template discussion. The system architect asked for a delivery date; that date needs a methodology and an execution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folder defines what the architecture is; the methodology docs define how it gets built. Resist requests to merge them. The split allows specification to baseline before tooling is finalised. Phases overlap, but gates control promotion.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points only: flat by artefact type, design and verification are separate repos, and reference models live with specs because they make bit-exact acceptance enforceable.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a reference card. It keeps the rest of the deck short: when a later slide says G4a or G5, point back here instead of re-explaining the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explicitly: the architect does not own the uArch document. That is a deliberate role boundary, codified in ADR-0005. A single person may fill multiple roles; the boundary is about artefacts.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about 90 seconds here. This is the slide everyone needs to remember. The SFU's functional blocks may decompose into multiple SystemVerilog files; the architect does not dictate that decomposition.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how bit-exact is made enforceable. The architect signs the refmodel as authoritative. If the designer asks what the block outputs when input is X, it is a module spec question. If the designer asks what the FSM looks like, it is a uArch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scope before the mechanics. ICDs come between orient sections and contracts/budgets sections because module specs need frozen ICDs and contract sections reference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cadence sets the operating tempo: section-sized work units, each closed before moving on. The markers are greppable. Citations are the anti-laundering principle: with LLMs in the pipeline, the failure mode is plausible but wrong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example: anything that looks like per-beam Doppler in the SFU is an immediate red flag. The DCU owns it. Moving that boundary requires an ADR with explicit system-level justification.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completeness test out loud. This is the line we will use repeatedly over the next 6 weeks. It also protects against scope creep into uArch. Pre-align with Gastón before the meeting; if he disagrees with this test, the methodology shifts.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failure mode is the most common for architects coming from RTL. Only boundary fixed-point formats are in the MS. Internal precision is a designer choice unless it observably violates a refmodel-defined acceptance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when an LLM-generated artefact looks polished and complete, no LLM signs off. Steps B and E use LLMs with no rewrite authority. Step D writes to the repo only from accepted review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slide. Pull a real three-row excerpt from an existing review if available. Walk through one row and show how it became a commit. If no real review exists before deck build, run one against the current FAD section and replace this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Designer does not reach into the spec; architect does not reach into the implementation. Exception: implementation evidence reveals a missing constraint, which goes back into the MS or an ADR. Architect bandwidth does not drop to zero after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how-to-run-the-build layer. Two principles: every stage produces an archived report at a commit hash, and each gate command cross-references the matching pass criteria in the sign-off document. No manual Vivado clicks as sign-off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column, e.g. G4a means spec sign-off per module and MS reaches design_ready. Each gate has a dedicated sign-off criteria section. Waivers are explicit and reviewed at the gate they affect.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 level grid makes the methodology executable. Each level builds on the previous one. Waiver discipline is the implementation-side version of citation discipline: visible, version-controlled, with expiry.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LLM speedup honestly. LLMs accelerate drafting, consistency checks, scaffolding, and format work. They do not speed up engineering thinking, ambiguity resolution, or stakeholder alignment. The six-week estimate assumes all three contingencies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asks. Be specific. The suggested dates assume today's date of 28 April 2026. If the meeting slips, all dates slip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565392"/>
            <a:ext cx="1371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ast-science.com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126480" y="6556248"/>
            <a:ext cx="2103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Confidential. Internal Use Only.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9646920" y="644652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95560" y="651052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SpaceMobile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579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BPMS 1.0 SFU FPGA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Project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21868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</a:rPr>
              <a:t>Roles, gates, and the architect workflow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BFBF"/>
                </a:solidFill>
              </a:rPr>
              <a:t>Marco Pausini  |  28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34440" y="4617720"/>
            <a:ext cx="2971800" cy="64008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70916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Architect / sponsor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49560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Agree on schedule and methodology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4617720"/>
            <a:ext cx="2971800" cy="64008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470916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RTL designer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49560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Agree on spec template + handoff contract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09560" y="4617720"/>
            <a:ext cx="2971800" cy="64008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70916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49560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Agree on what gets consumed at G5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+ what is new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7F7F"/>
                </a:solidFill>
              </a:rPr>
              <a:t>Frame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outline v0.2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11064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 the framework was specification-only. The execution layer makes the schedule real and aligns with the RTL flow.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5166360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5240">
            <a:solidFill>
              <a:srgbClr val="7F7F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5166360" cy="27432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38074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Before: specification layer only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5840" y="2011680"/>
            <a:ext cx="1508760" cy="50292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7627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FAD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2011680"/>
            <a:ext cx="1508760" cy="50292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17627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1508760" cy="50292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13639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ICD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2971800"/>
            <a:ext cx="1508760" cy="50292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313639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ADR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3931920"/>
            <a:ext cx="1508760" cy="50292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9651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RTM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325880"/>
            <a:ext cx="5166360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5240">
            <a:solidFill>
              <a:srgbClr val="0070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325880"/>
            <a:ext cx="5166360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138074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After: spec layer + execution layer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12280" y="1828800"/>
            <a:ext cx="4343400" cy="9144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975104"/>
            <a:ext cx="4069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 · MS · ICD · ADR · RTM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12280" y="3063240"/>
            <a:ext cx="4343400" cy="1143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218688"/>
            <a:ext cx="4069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01–05 methodology docs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· gates · evidence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0" y="2761488"/>
            <a:ext cx="0" cy="292608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22960" y="4983480"/>
            <a:ext cx="10607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with arch/: good for what to write; silent on how to build it.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align with RTL designer’s Claude Code assisted flow.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needs grounding in methodology, not folder layout.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framework + project phases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70C0"/>
                </a:solidFill>
              </a:rPr>
              <a:t>Methodology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01-fpga-project-methodology.md §2–§3</a:t>
            </a:r>
            <a:endParaRPr lang="en-US" sz="58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5394960" cy="141732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docs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arch/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FAD, MS, ICD, ADR, RTM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docs/methodology/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01–05-*.md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Shared, architect-led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960120"/>
          <a:ext cx="5349240" cy="224028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gate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G1, G2, G3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specification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G4a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implementation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G4b + integration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sign-off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HW bring-up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bring-up sign-off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005840" y="3794760"/>
            <a:ext cx="10149840" cy="1463040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5240">
            <a:solidFill>
              <a:srgbClr val="0070C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05840" y="3794760"/>
            <a:ext cx="10149840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" y="3849624"/>
            <a:ext cx="10003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Dependency flow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417320" y="4343400"/>
            <a:ext cx="13258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463040" y="44805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C0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770632" y="4553712"/>
            <a:ext cx="429768" cy="0"/>
          </a:xfrm>
          <a:prstGeom prst="line">
            <a:avLst/>
          </a:prstGeom>
          <a:noFill/>
          <a:ln w="1651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291840" y="4343400"/>
            <a:ext cx="13258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37560" y="44805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C0"/>
                </a:solidFill>
              </a:rPr>
              <a:t>Module specs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45152" y="4553712"/>
            <a:ext cx="429768" cy="0"/>
          </a:xfrm>
          <a:prstGeom prst="line">
            <a:avLst/>
          </a:prstGeom>
          <a:noFill/>
          <a:ln w="1651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166360" y="4343400"/>
            <a:ext cx="13258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12080" y="44805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C0"/>
                </a:solidFill>
              </a:rPr>
              <a:t>RTL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519672" y="4553712"/>
            <a:ext cx="429768" cy="0"/>
          </a:xfrm>
          <a:prstGeom prst="line">
            <a:avLst/>
          </a:prstGeom>
          <a:noFill/>
          <a:ln w="1651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7040880" y="4343400"/>
            <a:ext cx="13258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86600" y="44805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C0"/>
                </a:solidFill>
              </a:rPr>
              <a:t>Integration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8394192" y="4553712"/>
            <a:ext cx="429768" cy="0"/>
          </a:xfrm>
          <a:prstGeom prst="line">
            <a:avLst/>
          </a:prstGeom>
          <a:noFill/>
          <a:ln w="1651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915400" y="4343400"/>
            <a:ext cx="13258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961120" y="44805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C0"/>
                </a:solidFill>
              </a:rPr>
              <a:t>Bring-up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097280" y="5056632"/>
            <a:ext cx="9966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Gates, not calendars, control promotion. Phases may overlap only when upstream artefacts are stable enough for the next consumer.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layout: flat by artefact type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70C0"/>
                </a:solidFill>
              </a:rPr>
              <a:t>Methodology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01-fpga-project-methodology.md §4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303520" cy="4892040"/>
          </a:xfrm>
          <a:prstGeom prst="roundRect">
            <a:avLst>
              <a:gd name="adj" fmla="val 748"/>
            </a:avLst>
          </a:prstGeom>
          <a:solidFill>
            <a:srgbClr val="FFFFFF"/>
          </a:solidFill>
          <a:ln w="15240">
            <a:solidFill>
              <a:srgbClr val="0070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960120"/>
            <a:ext cx="5303520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014984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bpms-sfu-fpga-design/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48006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arch/                # FAD, module specs, ICD, ADR, RTM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rtl/                 # SystemVerilog sources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               # Python bit-exact reference models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tb/                  # unit testbenches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constraints/         # XDC + OOC constraints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prj/                 # Vivado project/IP recreation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             # Make/Tcl/CI/lint/doc_check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docs/methodology/    # execution layer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             # generated evidence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waivers/             # lint/CDC/timing waivers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492240" y="960120"/>
            <a:ext cx="480060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960120"/>
            <a:ext cx="4800600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014984"/>
            <a:ext cx="465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Boundary points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20840" y="1389888"/>
            <a:ext cx="43891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model/ is architect-owned for DSP/numerical reference models.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tb/ is unit-level, authored alongside specs and RTL.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repo consumes arch/ read-only.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337560"/>
            <a:ext cx="4800600" cy="2148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240">
            <a:solidFill>
              <a:srgbClr val="0070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337560"/>
            <a:ext cx="4800600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3392424"/>
            <a:ext cx="465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Principles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20840" y="3730752"/>
            <a:ext cx="43891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by artefact type, not lifecycle phase.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verification are separate repos.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are regenerated/archived by commit hash.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Waivers are version-controlled.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reference card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70C0"/>
                </a:solidFill>
              </a:rPr>
              <a:t>Methodology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05-signoff-criteria.md §11–§14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10698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 this is the shared vocabulary for the rest of the talk.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84280" cy="452628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1508760"/>
                <a:gridCol w="6675120"/>
              </a:tblGrid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passes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Orient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 §1–§6 complete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Scope, boundary, block diagram, clocking, module inventory consistent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Contracts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 §7–§8 + core ICDs ready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conventions, fixed-point policy, ICDs frozen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 Budgets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 §9–§12 complete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Latency/resource/floorplan/power budgets populated or TBD-with-owner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G4a Spec sign-off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MS draft complete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reaches design_ready; design_ready_blocking empty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G4b uArch + RTL sign-off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module RTL ready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Designer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uArch authored; lint/sim/OOC/CDC green; MS §12.3 evidence populated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module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Designer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§12.3 pass; module-level XDC merged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 Handoff to DV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Tagged commit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Engineer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 consumes without architect follow-up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97880"/>
            <a:ext cx="10789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as the reference card whenever later slides mention G1–G5.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roles, three sets of artefacts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0AD47"/>
                </a:solidFill>
              </a:rPr>
              <a:t>Roles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01-fpga-project-methodology.md §1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607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define work-product ownership. They are not org-chart positions.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1064240" cy="1874520"/>
        </p:xfrm>
        <a:graphic>
          <a:graphicData uri="http://schemas.openxmlformats.org/drawingml/2006/table">
            <a:tbl>
              <a:tblPr/>
              <a:tblGrid>
                <a:gridCol w="2057400"/>
                <a:gridCol w="6035040"/>
                <a:gridCol w="2971800"/>
              </a:tblGrid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 owned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FPGA Architect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FAD, MS, ICD, ADR, RTM, refmodels (DSP)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G1, G2, G3, G4a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Designer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uArch, RTL source, unit TBs, implementation evidence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G4b, integration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Engineer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UVM env, integration TB, coverage closure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005840" y="3749040"/>
            <a:ext cx="10149840" cy="1371600"/>
          </a:xfrm>
          <a:prstGeom prst="roundRect">
            <a:avLst>
              <a:gd name="adj" fmla="val 2667"/>
            </a:avLst>
          </a:prstGeom>
          <a:solidFill>
            <a:srgbClr val="ECF6E8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3749040"/>
            <a:ext cx="10149840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3803904"/>
            <a:ext cx="10003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Important boundary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234440" y="4251960"/>
            <a:ext cx="96926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 does not own the uArch document. That is deliberate: the architect owns the external contract; the designer owns the internal implementation.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spec/uArch split (ADR-0005)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0AD47"/>
                </a:solidFill>
              </a:rPr>
              <a:t>Roles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01-fpga-project-methodology.md §3.1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789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 MS is what the block does externally. uArch is how it does it internally.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11201400" cy="4343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5074920"/>
              </a:tblGrid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Spec (MS)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Micro-Architecture (uArch)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Filename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arch/modules/&lt;m&gt;.md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designer choice, e.g. rtl/&lt;m&gt;/uarch.md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Designer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contract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implementation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G4a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G4b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Granularity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block (~10 for SFU)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or more .sv files inside the block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ports, interfaces, clocks, registers, operation, performance, errors, test hooks, refmodel pointer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FSMs, pipeline depth, FIFO depths, sub-block decomposition, internal Q-formats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model ownership + why the split matters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0AD47"/>
                </a:solidFill>
              </a:rPr>
              <a:t>Roles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02-architect-workflow.md §1.1, §5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594360" y="1005840"/>
            <a:ext cx="530352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05840"/>
            <a:ext cx="5303520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60704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Refmodel ownership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1481328"/>
            <a:ext cx="475488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Refmodels live in model/&lt;m&gt;/ in the design repo.
</a:t>
            </a:r>
            <a:endParaRPr lang="en-US" sz="1120" dirty="0"/>
          </a:p>
          <a:p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Bit-exactness policy stated in MS §3.3: bit_exact / ulp_bounded(N) / not_applicable.
</a:t>
            </a:r>
            <a:endParaRPr lang="en-US" sz="1120" dirty="0"/>
          </a:p>
          <a:p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unit TB correlates RTL against refmodel sample-by-sample.
</a:t>
            </a:r>
            <a:endParaRPr lang="en-US" sz="1120" dirty="0"/>
          </a:p>
          <a:p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IP wrappers use boundary metrics instead.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51663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5240">
            <a:solidFill>
              <a:srgbClr val="007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005840"/>
            <a:ext cx="5166360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06070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this matters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0" y="1481328"/>
            <a:ext cx="461772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baselines contracts before implementation starts.
</a:t>
            </a:r>
            <a:endParaRPr lang="en-US" sz="1120" dirty="0"/>
          </a:p>
          <a:p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 can build TBs in parallel with RTL.
</a:t>
            </a:r>
            <a:endParaRPr lang="en-US" sz="1120" dirty="0"/>
          </a:p>
          <a:p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keeps freedom on internal choices.
</a:t>
            </a:r>
            <a:endParaRPr lang="en-US" sz="1120" dirty="0"/>
          </a:p>
          <a:p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questions belong in MS; internal questions belong in uArch.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workflow at a glance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A623"/>
                </a:solidFill>
              </a:rPr>
              <a:t>Workflow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02-architect-workflow.md §1–§2</a:t>
            </a:r>
            <a:endParaRPr lang="en-US" sz="58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60120"/>
          <a:ext cx="10972800" cy="1691640"/>
        </p:xfrm>
        <a:graphic>
          <a:graphicData uri="http://schemas.openxmlformats.org/drawingml/2006/table">
            <a:tbl>
              <a:tblPr/>
              <a:tblGrid>
                <a:gridCol w="3474720"/>
                <a:gridCol w="3840480"/>
                <a:gridCol w="3657600"/>
              </a:tblGrid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ARCH-001 v2.4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SFU-001 v1.6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docs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 bank spec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FAD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 MSs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 ICDs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ADRs as needed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living RTM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Refmodels for DSP blocks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Orient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Contracts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 Budgets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G4a Spec sign-off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Consistency review at G4b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3337560"/>
            <a:ext cx="10424160" cy="2011680"/>
          </a:xfrm>
          <a:prstGeom prst="roundRect">
            <a:avLst>
              <a:gd name="adj" fmla="val 1818"/>
            </a:avLst>
          </a:prstGeom>
          <a:solidFill>
            <a:srgbClr val="FFF2CC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3337560"/>
            <a:ext cx="104241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3392424"/>
            <a:ext cx="10277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Authoring dependency order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3444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4005072"/>
            <a:ext cx="1508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 §1–§6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2862072" y="4187952"/>
            <a:ext cx="274320" cy="0"/>
          </a:xfrm>
          <a:prstGeom prst="line">
            <a:avLst/>
          </a:prstGeom>
          <a:noFill/>
          <a:ln w="1651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0040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6120" y="4005072"/>
            <a:ext cx="1508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ICDs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streaming/register/OBG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4828032" y="4187952"/>
            <a:ext cx="274320" cy="0"/>
          </a:xfrm>
          <a:prstGeom prst="line">
            <a:avLst/>
          </a:prstGeom>
          <a:noFill/>
          <a:ln w="1651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16636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4005072"/>
            <a:ext cx="1508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 §7–§12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+ budgets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6793992" y="4187952"/>
            <a:ext cx="274320" cy="0"/>
          </a:xfrm>
          <a:prstGeom prst="line">
            <a:avLst/>
          </a:prstGeom>
          <a:noFill/>
          <a:ln w="1651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13232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78040" y="4005072"/>
            <a:ext cx="1508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Specs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block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8759952" y="4187952"/>
            <a:ext cx="274320" cy="0"/>
          </a:xfrm>
          <a:prstGeom prst="line">
            <a:avLst/>
          </a:prstGeom>
          <a:noFill/>
          <a:ln w="1651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09828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0" y="4005072"/>
            <a:ext cx="1508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Section-by-section drafting: markers + citation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A623"/>
                </a:solidFill>
              </a:rPr>
              <a:t>Workflow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02-architect-workflow.md §3–§4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5394960" cy="4709160"/>
          </a:xfrm>
          <a:prstGeom prst="roundRect">
            <a:avLst>
              <a:gd name="adj" fmla="val 777"/>
            </a:avLst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60120"/>
            <a:ext cx="53949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014984"/>
            <a:ext cx="5248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Drafting cadence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4937760" cy="19659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During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Identify target section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Gather source material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List specified / inferred / proposed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Fill template + cite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Mark every gap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Identify ADR triggers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Identify cross-refs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Self-check gate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 Independent review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 Revise + commit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3703320"/>
            <a:ext cx="48463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Sections, not whole documents, are the unit of review, revision, and commit.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960120"/>
            <a:ext cx="5257800" cy="4709160"/>
          </a:xfrm>
          <a:prstGeom prst="roundRect">
            <a:avLst>
              <a:gd name="adj" fmla="val 777"/>
            </a:avLst>
          </a:prstGeom>
          <a:solidFill>
            <a:srgbClr val="FFFFFF"/>
          </a:solidFill>
          <a:ln w="15240">
            <a:solidFill>
              <a:srgbClr val="7F7F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960120"/>
            <a:ext cx="5257800" cy="27432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73952" y="101498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Markers and citation rule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20840" y="1444752"/>
            <a:ext cx="46634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[TBD: &lt;reason&gt;, &lt;owner&gt;]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[STUB: &lt;blocking item&gt;]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[ASSUMPTION: &lt;text&gt;, &lt;expiry trigger&gt;]
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[INFERRED from &lt;source §&gt;]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75120" y="3703320"/>
            <a:ext cx="47548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factual claim from a parent doc carries an inline citation: (SFU-001 §6.4). Otherwise mark as [INFERRED] or [ASSUMPTION].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invariants and functional boundary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A623"/>
                </a:solidFill>
              </a:rPr>
              <a:t>Workflow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02-architect-workflow.md §4.3–§4.5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607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constraints apply across the entire design. The DCU/SFU ownership boundary is one of them.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166360" cy="4160520"/>
          </a:xfrm>
          <a:prstGeom prst="roundRect">
            <a:avLst>
              <a:gd name="adj" fmla="val 879"/>
            </a:avLst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51663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7218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Invariants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46634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 §1.5 lists project-wide invariants.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FAD section, MS, ICD, or ADR may violate them.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 enforces invariants across all downstream artefacts.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166360" cy="4160520"/>
          </a:xfrm>
          <a:prstGeom prst="roundRect">
            <a:avLst>
              <a:gd name="adj" fmla="val 879"/>
            </a:avLst>
          </a:prstGeom>
          <a:solidFill>
            <a:srgbClr val="FFFFFF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417320"/>
            <a:ext cx="5166360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47218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Boundary-crossing procedure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20840" y="1874520"/>
            <a:ext cx="457200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 ADR.
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the system-level source that justifies the change.
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source exists → reject by default.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5806440"/>
            <a:ext cx="9875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per-beam Doppler in the SFU is a red flag; DCU owns beam-level functions unless an ADR proves otherwise.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Design-ready criteria: the G4a checklist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A623"/>
                </a:solidFill>
              </a:rPr>
              <a:t>Workflow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02-architect-workflow.md §5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1092708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914400"/>
            <a:ext cx="1092708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969264"/>
            <a:ext cx="10780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Checklist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1037844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domains · interfaces · parameters · register set · operation · performance · error/status · system constraints · test hooks · refmodel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2971800"/>
            <a:ext cx="10287000" cy="2148840"/>
          </a:xfrm>
          <a:prstGeom prst="roundRect">
            <a:avLst>
              <a:gd name="adj" fmla="val 1702"/>
            </a:avLst>
          </a:prstGeom>
          <a:solidFill>
            <a:srgbClr val="FCE4D6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971800"/>
            <a:ext cx="10287000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026664"/>
            <a:ext cx="10140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Completeness test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3611880"/>
            <a:ext cx="97383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a senior RTL designer implement this module from the spec + referenced ICDs, making their own micro-architecture choices, without asking the architect a question about intended external behaviour?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4709160"/>
            <a:ext cx="9738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— not_design_ready.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MS does NOT prescribe + common failure modes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A623"/>
                </a:solidFill>
              </a:rPr>
              <a:t>Workflow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02-architect-workflow.md §5.2–§5.4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303520" cy="4937760"/>
          </a:xfrm>
          <a:prstGeom prst="roundRect">
            <a:avLst>
              <a:gd name="adj" fmla="val 741"/>
            </a:avLst>
          </a:prstGeom>
          <a:solidFill>
            <a:srgbClr val="FFFFFF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14400"/>
            <a:ext cx="5303520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969264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Not in the MS — uArch territory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371600"/>
            <a:ext cx="475488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FSMs / state-machine internals
</a:t>
            </a:r>
            <a:endParaRPr lang="en-US" sz="1220" dirty="0"/>
          </a:p>
          <a:p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depth or staging
</a:t>
            </a:r>
            <a:endParaRPr lang="en-US" sz="1220" dirty="0"/>
          </a:p>
          <a:p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FIFO implementation details
</a:t>
            </a:r>
            <a:endParaRPr lang="en-US" sz="1220" dirty="0"/>
          </a:p>
          <a:p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sub-block decomposition
</a:t>
            </a:r>
            <a:endParaRPr lang="en-US" sz="1220" dirty="0"/>
          </a:p>
          <a:p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fixed-point precision
</a:t>
            </a:r>
            <a:endParaRPr lang="en-US" sz="1220" dirty="0"/>
          </a:p>
          <a:p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address/bit assignment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263640" y="914400"/>
            <a:ext cx="5486400" cy="4937760"/>
          </a:xfrm>
          <a:prstGeom prst="roundRect">
            <a:avLst>
              <a:gd name="adj" fmla="val 741"/>
            </a:avLst>
          </a:prstGeom>
          <a:solidFill>
            <a:srgbClr val="FFFFFF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914400"/>
            <a:ext cx="5486400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969264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Common failure modes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53312"/>
          <a:ext cx="5029200" cy="3566160"/>
        </p:xfrm>
        <a:graphic>
          <a:graphicData uri="http://schemas.openxmlformats.org/drawingml/2006/table">
            <a:tbl>
              <a:tblPr/>
              <a:tblGrid>
                <a:gridCol w="2606040"/>
                <a:gridCol w="24231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Ambiguous backpressure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Specify stall / drop / error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target without number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cycles or ns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listed but behaviour undefined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Specify status / interrupt / output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 prescribes FSM or pipeline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Remove; state external constraint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LLM-assisted workflow: roles + pipeline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A623"/>
                </a:solidFill>
              </a:rPr>
              <a:t>Workflow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01-fpga-project-methodology.md §5; 02-architect-workflow.md §6</a:t>
            </a:r>
            <a:endParaRPr lang="en-US" sz="58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60120"/>
          <a:ext cx="10972800" cy="155448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60350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fpga_arch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Claude.ai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sections from sources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fpga_arch_reviewer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Adversarial review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repo_operator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Repo-aware edits + checks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2926080"/>
            <a:ext cx="10424160" cy="2194560"/>
          </a:xfrm>
          <a:prstGeom prst="roundRect">
            <a:avLst>
              <a:gd name="adj" fmla="val 1667"/>
            </a:avLst>
          </a:prstGeom>
          <a:solidFill>
            <a:srgbClr val="FFF2CC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926080"/>
            <a:ext cx="104241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980944"/>
            <a:ext cx="10277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Pipeline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34440" y="3520440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Draft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+ citations + markers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2862072" y="3886200"/>
            <a:ext cx="256032" cy="0"/>
          </a:xfrm>
          <a:prstGeom prst="line">
            <a:avLst/>
          </a:prstGeom>
          <a:noFill/>
          <a:ln w="1651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00400" y="3520440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6120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Review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table by severity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4828032" y="3886200"/>
            <a:ext cx="256032" cy="0"/>
          </a:xfrm>
          <a:prstGeom prst="line">
            <a:avLst/>
          </a:prstGeom>
          <a:noFill/>
          <a:ln w="1651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166360" y="3520440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Decide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reject / defer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793992" y="3886200"/>
            <a:ext cx="256032" cy="0"/>
          </a:xfrm>
          <a:prstGeom prst="line">
            <a:avLst/>
          </a:prstGeom>
          <a:noFill/>
          <a:ln w="1651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132320" y="3520440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78040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Apply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diffs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8759952" y="3886200"/>
            <a:ext cx="256032" cy="0"/>
          </a:xfrm>
          <a:prstGeom prst="line">
            <a:avLst/>
          </a:prstGeom>
          <a:noFill/>
          <a:ln w="1651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098280" y="3520440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0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Check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cross-refs, frontmatter, RTM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118872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authority: human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real reviewer issue table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A623"/>
                </a:solidFill>
              </a:rPr>
              <a:t>Workflow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02-architect-workflow.md §6.4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698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come back as an issue table, not rewritten prose.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2926080"/>
        </p:xfrm>
        <a:graphic>
          <a:graphicData uri="http://schemas.openxmlformats.org/drawingml/2006/table">
            <a:tbl>
              <a:tblPr/>
              <a:tblGrid>
                <a:gridCol w="1188720"/>
                <a:gridCol w="1508760"/>
                <a:gridCol w="2834640"/>
                <a:gridCol w="3931920"/>
                <a:gridCol w="17373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blocker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 §4.5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CDC Aurora→DSP unspecified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async FIFO row, depth, owner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/ CDC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 §Performance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 gain Q-format undefined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Specify Q(a.b) and saturation rule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G4a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 §Operation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Reset-while-busy missing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drop/complete/error spec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G4a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188720" y="4800600"/>
            <a:ext cx="9784080" cy="822960"/>
          </a:xfrm>
          <a:prstGeom prst="roundRect">
            <a:avLst>
              <a:gd name="adj" fmla="val 4444"/>
            </a:avLst>
          </a:prstGeom>
          <a:solidFill>
            <a:srgbClr val="FFF2CC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88720" y="4800600"/>
            <a:ext cx="978408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4855464"/>
            <a:ext cx="963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Operating rule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417320" y="5093208"/>
            <a:ext cx="9326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decides: accepted / rejected / deferred. Accepted items become minimal diffs in the repo.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at G4b + later phases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A623"/>
                </a:solidFill>
              </a:rPr>
              <a:t>Workflow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05-signoff-criteria.md §12.2–§15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349240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960120"/>
            <a:ext cx="53492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14984"/>
            <a:ext cx="520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Architect at G4b reviews for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48006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respects the MS contract.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mechanisms match MS and FAD §4.5.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usage is within FAD §9.2 budget.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undocumented functional boundary crossing.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960120"/>
            <a:ext cx="5166360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5240">
            <a:solidFill>
              <a:srgbClr val="007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960120"/>
            <a:ext cx="5166360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01498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Later-phase responsibilities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0" y="1463040"/>
            <a:ext cx="4617720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RTL: integration questions, post-synth budgets, ADRs.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integration: top constraints, CDC reports, timing adjudication.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bring-up: sequence, hardware validation evidence.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715000"/>
            <a:ext cx="104241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G4a is the architect gate. G4b is the designer gate. Architect remains engaged for consistency, not re-implementation.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flow: build entrypoints and gate commands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030A0"/>
                </a:solidFill>
              </a:rPr>
              <a:t>Execution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04-execution-flow.md §3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11018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make-based flow wraps Vivado, simulator, and lint. Every stage has a target, report, and sign-off reference.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98448"/>
          <a:ext cx="11018520" cy="3246120"/>
        </p:xfrm>
        <a:graphic>
          <a:graphicData uri="http://schemas.openxmlformats.org/drawingml/2006/table">
            <a:tbl>
              <a:tblPr/>
              <a:tblGrid>
                <a:gridCol w="2926080"/>
                <a:gridCol w="5760720"/>
                <a:gridCol w="2331720"/>
              </a:tblGrid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Sign-off ref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doc_check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 gate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§3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lint MOD=&lt;m&gt;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lint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sim_unit MOD=&lt;m&gt;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sim, incl. refmodel correlation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§5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synth_ooc MOD=&lt;m&gt;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OOC synthesis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§6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cdc MOD=&lt;m&gt;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CDC check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§7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synth_top / impl / timing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synth + implementation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§8–§10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097280" y="5074920"/>
            <a:ext cx="9966960" cy="685800"/>
          </a:xfrm>
          <a:prstGeom prst="roundRect">
            <a:avLst>
              <a:gd name="adj" fmla="val 5333"/>
            </a:avLst>
          </a:prstGeom>
          <a:solidFill>
            <a:srgbClr val="F3EAFB"/>
          </a:solidFill>
          <a:ln w="15240">
            <a:solidFill>
              <a:srgbClr val="7030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5074920"/>
            <a:ext cx="9966960" cy="2743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0432" y="5129784"/>
            <a:ext cx="9820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Evidence rule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25880" y="5330952"/>
            <a:ext cx="9509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archive under reports/&lt;commit-hash&gt;/; each gate references the exact commit where evidence was captured.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criteria: gate map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030A0"/>
                </a:solidFill>
              </a:rPr>
              <a:t>Execution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05-signoff-criteria.md §2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artefact has a defined passing definition. Sign-off remains human responsibility.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1188720"/>
            <a:ext cx="594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35808" y="1188720"/>
            <a:ext cx="594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14216" y="1188720"/>
            <a:ext cx="594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92624" y="1188720"/>
            <a:ext cx="594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71032" y="1188720"/>
            <a:ext cx="594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0" y="1188720"/>
            <a:ext cx="594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927848" y="1188720"/>
            <a:ext cx="594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906256" y="1188720"/>
            <a:ext cx="594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1508760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685800" y="1993392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/ refmodel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85800" y="2478024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lint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85800" y="2962656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sim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685800" y="3447288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OOC synth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85800" y="3931920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85800" y="4416552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685800" y="4901184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synth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85800" y="5385816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685800" y="5870448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 / UVM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685800" y="6355080"/>
            <a:ext cx="1234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bring-up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1984248" y="1627632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84248" y="2112264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4248" y="2596896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84248" y="3081528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84248" y="3566160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84248" y="4050792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84248" y="4535424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84248" y="5020056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84248" y="5504688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84248" y="5989320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84248" y="6473952"/>
            <a:ext cx="75895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21992" y="1508760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00400" y="1508760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78808" y="1508760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57216" y="1508760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57216" y="1993392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35624" y="2478024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35624" y="2962656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35624" y="3447288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35624" y="3931920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114032" y="3931920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114032" y="4416552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114032" y="4901184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14032" y="5385816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92440" y="5870448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070848" y="6355080"/>
            <a:ext cx="2286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05840" y="5715000"/>
            <a:ext cx="10241280" cy="411480"/>
          </a:xfrm>
          <a:prstGeom prst="roundRect">
            <a:avLst>
              <a:gd name="adj" fmla="val 8889"/>
            </a:avLst>
          </a:prstGeom>
          <a:solidFill>
            <a:srgbClr val="F3EAFB"/>
          </a:solidFill>
          <a:ln w="15240">
            <a:solidFill>
              <a:srgbClr val="7030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5840" y="5715000"/>
            <a:ext cx="10241280" cy="2743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78992" y="5769864"/>
            <a:ext cx="10094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Rule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234440" y="5861304"/>
            <a:ext cx="978408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gate may be waived silently: architecture waivers are ADRs; tool waivers live under waivers/.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regression levels + waiver discipline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030A0"/>
                </a:solidFill>
              </a:rPr>
              <a:t>Execution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04-execution-flow.md §13–§15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48640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5240">
            <a:solidFill>
              <a:srgbClr val="7030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960120"/>
            <a:ext cx="5486400" cy="2743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14984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CI levels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417320"/>
          <a:ext cx="4937760" cy="315468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  <a:gridCol w="13716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Wall-clock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Pre-commit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 min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 to feature branch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15 min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open / update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30 min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Nightly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6 h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 candidate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12 h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92240" y="960120"/>
            <a:ext cx="498348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960120"/>
            <a:ext cx="4983480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5392" y="1014984"/>
            <a:ext cx="4837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Waiver discipline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766560" y="146304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under waivers/ for lint, CDC, and timing.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Required: ID, citation to analysis or ADR, expiry trigger.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waiver without an expiry trigger blocks integration.
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at the gate it affects.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0000"/>
                </a:solidFill>
              </a:rPr>
              <a:t>Schedule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outline v0.2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94360" y="896112"/>
            <a:ext cx="10972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milestones, six weeks total. LLM-assisted estimate; manual baseline would be ~10–12 weeks.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835640" cy="1691640"/>
        </p:xfrm>
        <a:graphic>
          <a:graphicData uri="http://schemas.openxmlformats.org/drawingml/2006/table">
            <a:tbl>
              <a:tblPr/>
              <a:tblGrid>
                <a:gridCol w="1600200"/>
                <a:gridCol w="7406640"/>
                <a:gridCol w="182880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 §1–§12 baselined; core ICDs frozen; ADR-0005 accepted; pilot MS drafted end-to-end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weeks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MSs at design_ready; RTM populated; architecture officially done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 weeks / 6 total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051560" y="3657600"/>
            <a:ext cx="10058400" cy="1463040"/>
          </a:xfrm>
          <a:prstGeom prst="roundRect">
            <a:avLst>
              <a:gd name="adj" fmla="val 2500"/>
            </a:avLst>
          </a:prstGeom>
          <a:solidFill>
            <a:srgbClr val="FCE4D6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1560" y="3657600"/>
            <a:ext cx="10058400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4712" y="3712464"/>
            <a:ext cx="9912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Contingencies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25880" y="4069080"/>
            <a:ext cx="9509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Gastón’s spec template confirmation by end of week 1.
</a:t>
            </a:r>
            <a:endParaRPr lang="en-US" sz="1150" dirty="0"/>
          </a:p>
          <a:p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Source-doc open issues OI-001, OI-S07, OI-S08 assigned owners.
</a:t>
            </a:r>
            <a:endParaRPr lang="en-US" sz="1150" dirty="0"/>
          </a:p>
          <a:p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major architectural surprises in FAD §3–§5.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to surface and asks per attendee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64592" cy="56509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0000"/>
                </a:solidFill>
              </a:rPr>
              <a:t>Schedule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03920" y="65562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9D9D9"/>
                </a:solidFill>
              </a:rPr>
              <a:t>outline v0.2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7150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14400"/>
            <a:ext cx="5715000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969264"/>
            <a:ext cx="5568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Decisions to surface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53312"/>
          <a:ext cx="5257800" cy="3566160"/>
        </p:xfrm>
        <a:graphic>
          <a:graphicData uri="http://schemas.openxmlformats.org/drawingml/2006/table">
            <a:tbl>
              <a:tblPr/>
              <a:tblGrid>
                <a:gridCol w="2331720"/>
                <a:gridCol w="1234440"/>
                <a:gridCol w="16916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Resolves with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ADR-0005 spec/uArch split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Gastón template confirmation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 §6 module inventory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 update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review pass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Reviewer configuration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 this week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Source-doc OIs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assignment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M1+M2 schedule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 agreement</a:t>
                      </a:r>
                      <a:endParaRPr lang="en-US" sz="8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37960" y="914400"/>
            <a:ext cx="516636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914400"/>
            <a:ext cx="51663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1112" y="96926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Asks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12280" y="1417320"/>
            <a:ext cx="46177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Gastón — confirm spec template by Fri 8 May 2026.
</a:t>
            </a:r>
            <a:endParaRPr lang="en-US" sz="1120" dirty="0"/>
          </a:p>
          <a:p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Shlomi — assign owners to OI-001, OI-S07, OI-S08 by Fri 15 May 2026.
</a:t>
            </a:r>
            <a:endParaRPr lang="en-US" sz="1120" dirty="0"/>
          </a:p>
          <a:p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team — agree review cadence and reviewer LLM tool in this meeting.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6812280" y="5166360"/>
            <a:ext cx="4617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on concrete decisions, owners, and dates. Adjust dates if the meeting slips.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AST SpaceMobile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BPMS 1.0 SFU FPGA — Project Methodology</dc:title>
  <dc:subject>BPMS 1.0 SFU FPGA Project Methodology</dc:subject>
  <dc:creator>Marco Pausini</dc:creator>
  <cp:lastModifiedBy>Marco Pausini</cp:lastModifiedBy>
  <cp:revision>1</cp:revision>
  <dcterms:created xsi:type="dcterms:W3CDTF">2026-04-28T13:21:24Z</dcterms:created>
  <dcterms:modified xsi:type="dcterms:W3CDTF">2026-04-28T13:21:24Z</dcterms:modified>
</cp:coreProperties>
</file>